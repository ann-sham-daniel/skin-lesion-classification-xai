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sldIdLst>
    <p:sldId id="256" r:id="rId2"/>
    <p:sldId id="257" r:id="rId3"/>
    <p:sldId id="259" r:id="rId4"/>
    <p:sldId id="260" r:id="rId5"/>
    <p:sldId id="261" r:id="rId6"/>
    <p:sldId id="262" r:id="rId7"/>
    <p:sldId id="263" r:id="rId8"/>
    <p:sldId id="264" r:id="rId9"/>
    <p:sldId id="265" r:id="rId10"/>
    <p:sldId id="25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10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 Sham Daniel" userId="e9192459ba4461e2" providerId="LiveId" clId="{9EF2DE45-B20E-400F-91A7-F921ACA99F3F}"/>
    <pc:docChg chg="modSld">
      <pc:chgData name="Ann Sham Daniel" userId="e9192459ba4461e2" providerId="LiveId" clId="{9EF2DE45-B20E-400F-91A7-F921ACA99F3F}" dt="2026-09-11T11:51:25.043" v="13" actId="123"/>
      <pc:docMkLst>
        <pc:docMk/>
      </pc:docMkLst>
      <pc:sldChg chg="modSp mod">
        <pc:chgData name="Ann Sham Daniel" userId="e9192459ba4461e2" providerId="LiveId" clId="{9EF2DE45-B20E-400F-91A7-F921ACA99F3F}" dt="2026-09-11T11:51:25.043" v="13" actId="123"/>
        <pc:sldMkLst>
          <pc:docMk/>
          <pc:sldMk cId="4213672154" sldId="261"/>
        </pc:sldMkLst>
        <pc:spChg chg="mod">
          <ac:chgData name="Ann Sham Daniel" userId="e9192459ba4461e2" providerId="LiveId" clId="{9EF2DE45-B20E-400F-91A7-F921ACA99F3F}" dt="2026-09-11T11:51:25.043" v="13" actId="123"/>
          <ac:spMkLst>
            <pc:docMk/>
            <pc:sldMk cId="4213672154" sldId="261"/>
            <ac:spMk id="3" creationId="{66A90D84-822D-02BC-CDF3-7B9D2A521EF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355976-DE5B-41C8-9AEE-0426DE0BEE1D}"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E9AE8-326F-482A-A6A2-E8A1CAEF747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7723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355976-DE5B-41C8-9AEE-0426DE0BEE1D}"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E9AE8-326F-482A-A6A2-E8A1CAEF7477}" type="slidenum">
              <a:rPr lang="en-US" smtClean="0"/>
              <a:t>‹#›</a:t>
            </a:fld>
            <a:endParaRPr lang="en-US"/>
          </a:p>
        </p:txBody>
      </p:sp>
    </p:spTree>
    <p:extLst>
      <p:ext uri="{BB962C8B-B14F-4D97-AF65-F5344CB8AC3E}">
        <p14:creationId xmlns:p14="http://schemas.microsoft.com/office/powerpoint/2010/main" val="2472726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355976-DE5B-41C8-9AEE-0426DE0BEE1D}"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E9AE8-326F-482A-A6A2-E8A1CAEF747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2295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355976-DE5B-41C8-9AEE-0426DE0BEE1D}"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E9AE8-326F-482A-A6A2-E8A1CAEF7477}" type="slidenum">
              <a:rPr lang="en-US" smtClean="0"/>
              <a:t>‹#›</a:t>
            </a:fld>
            <a:endParaRPr lang="en-US"/>
          </a:p>
        </p:txBody>
      </p:sp>
    </p:spTree>
    <p:extLst>
      <p:ext uri="{BB962C8B-B14F-4D97-AF65-F5344CB8AC3E}">
        <p14:creationId xmlns:p14="http://schemas.microsoft.com/office/powerpoint/2010/main" val="2204937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355976-DE5B-41C8-9AEE-0426DE0BEE1D}"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E9AE8-326F-482A-A6A2-E8A1CAEF7477}" type="slidenum">
              <a:rPr lang="en-US" smtClean="0"/>
              <a:t>‹#›</a:t>
            </a:fld>
            <a:endParaRPr lang="en-US"/>
          </a:p>
        </p:txBody>
      </p:sp>
    </p:spTree>
    <p:extLst>
      <p:ext uri="{BB962C8B-B14F-4D97-AF65-F5344CB8AC3E}">
        <p14:creationId xmlns:p14="http://schemas.microsoft.com/office/powerpoint/2010/main" val="1486166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355976-DE5B-41C8-9AEE-0426DE0BEE1D}"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E9AE8-326F-482A-A6A2-E8A1CAEF7477}" type="slidenum">
              <a:rPr lang="en-US" smtClean="0"/>
              <a:t>‹#›</a:t>
            </a:fld>
            <a:endParaRPr lang="en-US"/>
          </a:p>
        </p:txBody>
      </p:sp>
    </p:spTree>
    <p:extLst>
      <p:ext uri="{BB962C8B-B14F-4D97-AF65-F5344CB8AC3E}">
        <p14:creationId xmlns:p14="http://schemas.microsoft.com/office/powerpoint/2010/main" val="375889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4355976-DE5B-41C8-9AEE-0426DE0BEE1D}" type="datetimeFigureOut">
              <a:rPr lang="en-US" smtClean="0"/>
              <a:t>9/11/2026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55E9AE8-326F-482A-A6A2-E8A1CAEF7477}" type="slidenum">
              <a:rPr lang="en-US" smtClean="0"/>
              <a:t>‹#›</a:t>
            </a:fld>
            <a:endParaRPr lang="en-US"/>
          </a:p>
        </p:txBody>
      </p:sp>
    </p:spTree>
    <p:extLst>
      <p:ext uri="{BB962C8B-B14F-4D97-AF65-F5344CB8AC3E}">
        <p14:creationId xmlns:p14="http://schemas.microsoft.com/office/powerpoint/2010/main" val="2180254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4355976-DE5B-41C8-9AEE-0426DE0BEE1D}" type="datetimeFigureOut">
              <a:rPr lang="en-US" smtClean="0"/>
              <a:t>9/11/2026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55E9AE8-326F-482A-A6A2-E8A1CAEF7477}" type="slidenum">
              <a:rPr lang="en-US" smtClean="0"/>
              <a:t>‹#›</a:t>
            </a:fld>
            <a:endParaRPr lang="en-US"/>
          </a:p>
        </p:txBody>
      </p:sp>
    </p:spTree>
    <p:extLst>
      <p:ext uri="{BB962C8B-B14F-4D97-AF65-F5344CB8AC3E}">
        <p14:creationId xmlns:p14="http://schemas.microsoft.com/office/powerpoint/2010/main" val="263329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355976-DE5B-41C8-9AEE-0426DE0BEE1D}"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55E9AE8-326F-482A-A6A2-E8A1CAEF7477}" type="slidenum">
              <a:rPr lang="en-US" smtClean="0"/>
              <a:t>‹#›</a:t>
            </a:fld>
            <a:endParaRPr lang="en-US"/>
          </a:p>
        </p:txBody>
      </p:sp>
    </p:spTree>
    <p:extLst>
      <p:ext uri="{BB962C8B-B14F-4D97-AF65-F5344CB8AC3E}">
        <p14:creationId xmlns:p14="http://schemas.microsoft.com/office/powerpoint/2010/main" val="858541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355976-DE5B-41C8-9AEE-0426DE0BEE1D}"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E9AE8-326F-482A-A6A2-E8A1CAEF7477}" type="slidenum">
              <a:rPr lang="en-US" smtClean="0"/>
              <a:t>‹#›</a:t>
            </a:fld>
            <a:endParaRPr lang="en-US"/>
          </a:p>
        </p:txBody>
      </p:sp>
    </p:spTree>
    <p:extLst>
      <p:ext uri="{BB962C8B-B14F-4D97-AF65-F5344CB8AC3E}">
        <p14:creationId xmlns:p14="http://schemas.microsoft.com/office/powerpoint/2010/main" val="3544316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355976-DE5B-41C8-9AEE-0426DE0BEE1D}"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E9AE8-326F-482A-A6A2-E8A1CAEF7477}" type="slidenum">
              <a:rPr lang="en-US" smtClean="0"/>
              <a:t>‹#›</a:t>
            </a:fld>
            <a:endParaRPr lang="en-US"/>
          </a:p>
        </p:txBody>
      </p:sp>
    </p:spTree>
    <p:extLst>
      <p:ext uri="{BB962C8B-B14F-4D97-AF65-F5344CB8AC3E}">
        <p14:creationId xmlns:p14="http://schemas.microsoft.com/office/powerpoint/2010/main" val="1576250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4355976-DE5B-41C8-9AEE-0426DE0BEE1D}" type="datetimeFigureOut">
              <a:rPr lang="en-US" smtClean="0"/>
              <a:t>9/11/2026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55E9AE8-326F-482A-A6A2-E8A1CAEF747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8735619"/>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B0929-8126-6D5E-DBC8-026598A17B71}"/>
              </a:ext>
            </a:extLst>
          </p:cNvPr>
          <p:cNvSpPr>
            <a:spLocks noGrp="1"/>
          </p:cNvSpPr>
          <p:nvPr>
            <p:ph type="ctrTitle"/>
          </p:nvPr>
        </p:nvSpPr>
        <p:spPr>
          <a:xfrm>
            <a:off x="3184478" y="1911843"/>
            <a:ext cx="7133002" cy="2157237"/>
          </a:xfrm>
        </p:spPr>
        <p:txBody>
          <a:bodyPr>
            <a:normAutofit fontScale="90000"/>
          </a:bodyPr>
          <a:lstStyle/>
          <a:p>
            <a:r>
              <a:rPr lang="en-US" dirty="0"/>
              <a:t>Skin Lesion Classification Using Explainable AI</a:t>
            </a:r>
          </a:p>
        </p:txBody>
      </p:sp>
      <p:sp>
        <p:nvSpPr>
          <p:cNvPr id="3" name="Subtitle 2">
            <a:extLst>
              <a:ext uri="{FF2B5EF4-FFF2-40B4-BE49-F238E27FC236}">
                <a16:creationId xmlns:a16="http://schemas.microsoft.com/office/drawing/2014/main" id="{062301D2-211A-7B33-32B5-9BF44B2D1D28}"/>
              </a:ext>
            </a:extLst>
          </p:cNvPr>
          <p:cNvSpPr>
            <a:spLocks noGrp="1"/>
          </p:cNvSpPr>
          <p:nvPr>
            <p:ph type="subTitle" idx="1"/>
          </p:nvPr>
        </p:nvSpPr>
        <p:spPr/>
        <p:txBody>
          <a:bodyPr>
            <a:normAutofit fontScale="47500" lnSpcReduction="20000"/>
          </a:bodyPr>
          <a:lstStyle/>
          <a:p>
            <a:r>
              <a:rPr lang="en-US" dirty="0"/>
              <a:t>Ann Sham daniel</a:t>
            </a:r>
          </a:p>
          <a:p>
            <a:r>
              <a:rPr lang="en-US" dirty="0"/>
              <a:t>Department of computer science and engineering , </a:t>
            </a:r>
            <a:r>
              <a:rPr lang="en-US" dirty="0" err="1"/>
              <a:t>mit</a:t>
            </a:r>
            <a:endParaRPr lang="en-US" dirty="0"/>
          </a:p>
          <a:p>
            <a:r>
              <a:rPr lang="en-US" dirty="0"/>
              <a:t>Registration No: 235805100 </a:t>
            </a:r>
          </a:p>
          <a:p>
            <a:r>
              <a:rPr lang="en-US" dirty="0"/>
              <a:t>Under Supervision of </a:t>
            </a:r>
            <a:r>
              <a:rPr lang="en-US" dirty="0" err="1"/>
              <a:t>Mahadevi.s</a:t>
            </a:r>
            <a:r>
              <a:rPr lang="en-US" dirty="0"/>
              <a:t>, Assistant professor, department of </a:t>
            </a:r>
            <a:r>
              <a:rPr lang="en-US" dirty="0" err="1"/>
              <a:t>cse</a:t>
            </a:r>
            <a:r>
              <a:rPr lang="en-US" dirty="0"/>
              <a:t> , </a:t>
            </a:r>
            <a:r>
              <a:rPr lang="en-US" dirty="0" err="1"/>
              <a:t>mit</a:t>
            </a:r>
            <a:endParaRPr lang="en-US" dirty="0"/>
          </a:p>
          <a:p>
            <a:endParaRPr lang="en-US" dirty="0"/>
          </a:p>
        </p:txBody>
      </p:sp>
      <p:pic>
        <p:nvPicPr>
          <p:cNvPr id="1027" name="Picture 5" descr="Diagram&#10;&#10;Description automatically generated with medium confidence">
            <a:extLst>
              <a:ext uri="{FF2B5EF4-FFF2-40B4-BE49-F238E27FC236}">
                <a16:creationId xmlns:a16="http://schemas.microsoft.com/office/drawing/2014/main" id="{2DD76A44-6552-A47A-D46F-6102A5B657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1"/>
            <a:ext cx="5727700" cy="98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938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FD27-0C71-B6CD-B2AC-8AAF1E7E5623}"/>
              </a:ext>
            </a:extLst>
          </p:cNvPr>
          <p:cNvSpPr>
            <a:spLocks noGrp="1"/>
          </p:cNvSpPr>
          <p:nvPr>
            <p:ph type="title"/>
          </p:nvPr>
        </p:nvSpPr>
        <p:spPr>
          <a:xfrm>
            <a:off x="781050" y="164305"/>
            <a:ext cx="6219825" cy="1033463"/>
          </a:xfrm>
        </p:spPr>
        <p:txBody>
          <a:bodyPr/>
          <a:lstStyle/>
          <a:p>
            <a:r>
              <a:rPr lang="en-US" dirty="0"/>
              <a:t>List of contents</a:t>
            </a:r>
          </a:p>
        </p:txBody>
      </p:sp>
      <p:sp>
        <p:nvSpPr>
          <p:cNvPr id="3" name="Content Placeholder 2">
            <a:extLst>
              <a:ext uri="{FF2B5EF4-FFF2-40B4-BE49-F238E27FC236}">
                <a16:creationId xmlns:a16="http://schemas.microsoft.com/office/drawing/2014/main" id="{66A90D84-822D-02BC-CDF3-7B9D2A521EFE}"/>
              </a:ext>
            </a:extLst>
          </p:cNvPr>
          <p:cNvSpPr>
            <a:spLocks noGrp="1"/>
          </p:cNvSpPr>
          <p:nvPr>
            <p:ph idx="1"/>
          </p:nvPr>
        </p:nvSpPr>
        <p:spPr>
          <a:xfrm>
            <a:off x="913775" y="1265237"/>
            <a:ext cx="10364452" cy="5495926"/>
          </a:xfrm>
        </p:spPr>
        <p:txBody>
          <a:bodyPr>
            <a:normAutofit/>
          </a:bodyPr>
          <a:lstStyle/>
          <a:p>
            <a:pPr>
              <a:buNone/>
            </a:pPr>
            <a:endParaRPr lang="en-US" b="1" dirty="0"/>
          </a:p>
          <a:p>
            <a:endParaRPr lang="en-GB" dirty="0"/>
          </a:p>
          <a:p>
            <a:r>
              <a:rPr lang="en-GB" dirty="0"/>
              <a:t>1.Abstract</a:t>
            </a:r>
            <a:endParaRPr lang="en-IN" dirty="0"/>
          </a:p>
          <a:p>
            <a:r>
              <a:rPr lang="en-GB" dirty="0"/>
              <a:t>2.Introduction</a:t>
            </a:r>
            <a:endParaRPr lang="en-IN" dirty="0"/>
          </a:p>
          <a:p>
            <a:r>
              <a:rPr lang="en-GB" dirty="0"/>
              <a:t>3.Literature Review</a:t>
            </a:r>
            <a:endParaRPr lang="en-IN" dirty="0"/>
          </a:p>
          <a:p>
            <a:r>
              <a:rPr lang="en-GB" dirty="0"/>
              <a:t>4.Objectives</a:t>
            </a:r>
            <a:endParaRPr lang="en-IN" dirty="0"/>
          </a:p>
          <a:p>
            <a:r>
              <a:rPr lang="en-GB" dirty="0"/>
              <a:t>5.Methodology</a:t>
            </a:r>
            <a:endParaRPr lang="en-IN" dirty="0"/>
          </a:p>
          <a:p>
            <a:r>
              <a:rPr lang="en-GB" dirty="0"/>
              <a:t>6.Conclusion</a:t>
            </a:r>
            <a:endParaRPr lang="en-IN" dirty="0"/>
          </a:p>
          <a:p>
            <a:r>
              <a:rPr lang="en-GB" dirty="0"/>
              <a:t>7.References</a:t>
            </a:r>
            <a:endParaRPr lang="en-IN" dirty="0"/>
          </a:p>
          <a:p>
            <a:endParaRPr lang="en-US" dirty="0"/>
          </a:p>
        </p:txBody>
      </p:sp>
      <p:pic>
        <p:nvPicPr>
          <p:cNvPr id="5" name="Picture 5" descr="Diagram&#10;&#10;Description automatically generated with medium confidence">
            <a:extLst>
              <a:ext uri="{FF2B5EF4-FFF2-40B4-BE49-F238E27FC236}">
                <a16:creationId xmlns:a16="http://schemas.microsoft.com/office/drawing/2014/main" id="{9DC31D46-8781-3C2C-C6D6-B6C0BEAAC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1"/>
            <a:ext cx="57277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2296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FD27-0C71-B6CD-B2AC-8AAF1E7E5623}"/>
              </a:ext>
            </a:extLst>
          </p:cNvPr>
          <p:cNvSpPr>
            <a:spLocks noGrp="1"/>
          </p:cNvSpPr>
          <p:nvPr>
            <p:ph type="title"/>
          </p:nvPr>
        </p:nvSpPr>
        <p:spPr>
          <a:xfrm>
            <a:off x="781050" y="164305"/>
            <a:ext cx="6229350" cy="1329215"/>
          </a:xfrm>
        </p:spPr>
        <p:txBody>
          <a:bodyPr/>
          <a:lstStyle/>
          <a:p>
            <a:r>
              <a:rPr lang="en-US" dirty="0"/>
              <a:t>  Abstract</a:t>
            </a:r>
          </a:p>
        </p:txBody>
      </p:sp>
      <p:sp>
        <p:nvSpPr>
          <p:cNvPr id="3" name="Content Placeholder 2">
            <a:extLst>
              <a:ext uri="{FF2B5EF4-FFF2-40B4-BE49-F238E27FC236}">
                <a16:creationId xmlns:a16="http://schemas.microsoft.com/office/drawing/2014/main" id="{66A90D84-822D-02BC-CDF3-7B9D2A521EFE}"/>
              </a:ext>
            </a:extLst>
          </p:cNvPr>
          <p:cNvSpPr>
            <a:spLocks noGrp="1"/>
          </p:cNvSpPr>
          <p:nvPr>
            <p:ph idx="1"/>
          </p:nvPr>
        </p:nvSpPr>
        <p:spPr>
          <a:xfrm>
            <a:off x="913775" y="1265237"/>
            <a:ext cx="10364452" cy="5495926"/>
          </a:xfrm>
        </p:spPr>
        <p:txBody>
          <a:bodyPr>
            <a:normAutofit/>
          </a:bodyPr>
          <a:lstStyle/>
          <a:p>
            <a:pPr algn="just">
              <a:buNone/>
            </a:pPr>
            <a:endParaRPr lang="en-US" b="1" dirty="0"/>
          </a:p>
          <a:p>
            <a:pPr algn="just"/>
            <a:endParaRPr lang="en-US" dirty="0"/>
          </a:p>
          <a:p>
            <a:pPr algn="just"/>
            <a:r>
              <a:rPr lang="en-GB" dirty="0"/>
              <a:t>Skin lesion classification is an important application of Artificial Intelligence in healthcare. The        proposed project uses Convolutional Neural Networks (CNNs) to classify skin lesion images into different categories based on visual features such as texture, shape, and </a:t>
            </a:r>
            <a:r>
              <a:rPr lang="en-GB" dirty="0" err="1"/>
              <a:t>color</a:t>
            </a:r>
            <a:r>
              <a:rPr lang="en-GB" dirty="0"/>
              <a:t> patterns. The system also integrates Explainable AI (XAI) techniques, specifically Grad-CAM, to generate heatmaps that highlight the important regions influencing the model’s prediction. This improves transparency, interpretability, and trust in AI-assisted medical diagnosis. The project aims to support accurate and efficient skin lesion analysis using deep learning and explainable methods.</a:t>
            </a:r>
            <a:endParaRPr lang="en-US" dirty="0"/>
          </a:p>
        </p:txBody>
      </p:sp>
      <p:pic>
        <p:nvPicPr>
          <p:cNvPr id="5" name="Picture 5" descr="Diagram&#10;&#10;Description automatically generated with medium confidence">
            <a:extLst>
              <a:ext uri="{FF2B5EF4-FFF2-40B4-BE49-F238E27FC236}">
                <a16:creationId xmlns:a16="http://schemas.microsoft.com/office/drawing/2014/main" id="{9DC31D46-8781-3C2C-C6D6-B6C0BEAAC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1"/>
            <a:ext cx="57277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6565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FD27-0C71-B6CD-B2AC-8AAF1E7E5623}"/>
              </a:ext>
            </a:extLst>
          </p:cNvPr>
          <p:cNvSpPr>
            <a:spLocks noGrp="1"/>
          </p:cNvSpPr>
          <p:nvPr>
            <p:ph type="title"/>
          </p:nvPr>
        </p:nvSpPr>
        <p:spPr>
          <a:xfrm>
            <a:off x="781050" y="164305"/>
            <a:ext cx="6259830" cy="1268255"/>
          </a:xfrm>
        </p:spPr>
        <p:txBody>
          <a:bodyPr/>
          <a:lstStyle/>
          <a:p>
            <a:r>
              <a:rPr lang="en-US" dirty="0"/>
              <a:t>  Introduction</a:t>
            </a:r>
          </a:p>
        </p:txBody>
      </p:sp>
      <p:sp>
        <p:nvSpPr>
          <p:cNvPr id="3" name="Content Placeholder 2">
            <a:extLst>
              <a:ext uri="{FF2B5EF4-FFF2-40B4-BE49-F238E27FC236}">
                <a16:creationId xmlns:a16="http://schemas.microsoft.com/office/drawing/2014/main" id="{66A90D84-822D-02BC-CDF3-7B9D2A521EFE}"/>
              </a:ext>
            </a:extLst>
          </p:cNvPr>
          <p:cNvSpPr>
            <a:spLocks noGrp="1"/>
          </p:cNvSpPr>
          <p:nvPr>
            <p:ph idx="1"/>
          </p:nvPr>
        </p:nvSpPr>
        <p:spPr>
          <a:xfrm>
            <a:off x="913775" y="1265237"/>
            <a:ext cx="10364452" cy="5495926"/>
          </a:xfrm>
        </p:spPr>
        <p:txBody>
          <a:bodyPr>
            <a:normAutofit/>
          </a:bodyPr>
          <a:lstStyle/>
          <a:p>
            <a:pPr algn="just">
              <a:buNone/>
            </a:pPr>
            <a:endParaRPr lang="en-US" b="1" dirty="0"/>
          </a:p>
          <a:p>
            <a:pPr algn="just"/>
            <a:endParaRPr lang="en-US" dirty="0"/>
          </a:p>
          <a:p>
            <a:pPr algn="just"/>
            <a:r>
              <a:rPr lang="en-GB" dirty="0"/>
              <a:t>Skin lesion classification is an important application of Artificial Intelligence in the healthcare domain. Early detection of skin diseases, especially skin cancer, is essential for effective treatment and improved patient outcomes. Traditional diagnosis methods mainly depend on manual examination by dermatologists, which may sometimes be time-consuming and subjective.</a:t>
            </a:r>
          </a:p>
          <a:p>
            <a:pPr algn="just"/>
            <a:endParaRPr lang="en-GB" dirty="0"/>
          </a:p>
          <a:p>
            <a:pPr algn="just"/>
            <a:r>
              <a:rPr lang="en-GB" dirty="0"/>
              <a:t>In this project, Convolutional Neural Networks (CNNs) are used to classify skin lesion images based on visual features such as texture, </a:t>
            </a:r>
            <a:r>
              <a:rPr lang="en-GB" dirty="0" err="1"/>
              <a:t>color</a:t>
            </a:r>
            <a:r>
              <a:rPr lang="en-GB" dirty="0"/>
              <a:t>, and shape. The system also integrates Explainable AI (XAI) techniques like Grad-CAM to generate heatmaps that highlight the important regions influencing the prediction. This improves transparency, interpretability, and trust in AI-assisted medical diagnosis systems.</a:t>
            </a:r>
            <a:endParaRPr lang="en-US" dirty="0"/>
          </a:p>
        </p:txBody>
      </p:sp>
      <p:pic>
        <p:nvPicPr>
          <p:cNvPr id="5" name="Picture 5" descr="Diagram&#10;&#10;Description automatically generated with medium confidence">
            <a:extLst>
              <a:ext uri="{FF2B5EF4-FFF2-40B4-BE49-F238E27FC236}">
                <a16:creationId xmlns:a16="http://schemas.microsoft.com/office/drawing/2014/main" id="{9DC31D46-8781-3C2C-C6D6-B6C0BEAAC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1"/>
            <a:ext cx="57277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6891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FD27-0C71-B6CD-B2AC-8AAF1E7E5623}"/>
              </a:ext>
            </a:extLst>
          </p:cNvPr>
          <p:cNvSpPr>
            <a:spLocks noGrp="1"/>
          </p:cNvSpPr>
          <p:nvPr>
            <p:ph type="title"/>
          </p:nvPr>
        </p:nvSpPr>
        <p:spPr>
          <a:xfrm>
            <a:off x="781050" y="164305"/>
            <a:ext cx="6259830" cy="1268255"/>
          </a:xfrm>
        </p:spPr>
        <p:txBody>
          <a:bodyPr/>
          <a:lstStyle/>
          <a:p>
            <a:r>
              <a:rPr lang="en-US" dirty="0"/>
              <a:t>  Literature Review</a:t>
            </a:r>
          </a:p>
        </p:txBody>
      </p:sp>
      <p:sp>
        <p:nvSpPr>
          <p:cNvPr id="3" name="Content Placeholder 2">
            <a:extLst>
              <a:ext uri="{FF2B5EF4-FFF2-40B4-BE49-F238E27FC236}">
                <a16:creationId xmlns:a16="http://schemas.microsoft.com/office/drawing/2014/main" id="{66A90D84-822D-02BC-CDF3-7B9D2A521EFE}"/>
              </a:ext>
            </a:extLst>
          </p:cNvPr>
          <p:cNvSpPr>
            <a:spLocks noGrp="1"/>
          </p:cNvSpPr>
          <p:nvPr>
            <p:ph idx="1"/>
          </p:nvPr>
        </p:nvSpPr>
        <p:spPr>
          <a:xfrm>
            <a:off x="913775" y="1265237"/>
            <a:ext cx="10257145" cy="5013643"/>
          </a:xfrm>
        </p:spPr>
        <p:txBody>
          <a:bodyPr>
            <a:normAutofit/>
          </a:bodyPr>
          <a:lstStyle/>
          <a:p>
            <a:pPr>
              <a:buNone/>
            </a:pPr>
            <a:endParaRPr lang="en-US" b="1" dirty="0"/>
          </a:p>
          <a:p>
            <a:endParaRPr lang="en-US" dirty="0"/>
          </a:p>
          <a:p>
            <a:pPr marL="0" indent="0" algn="just">
              <a:buNone/>
            </a:pPr>
            <a:r>
              <a:rPr lang="en-GB" dirty="0"/>
              <a:t>Skin lesion classification using deep learning has become an active research area with the availability of large </a:t>
            </a:r>
            <a:r>
              <a:rPr lang="en-GB" dirty="0" err="1"/>
              <a:t>dermatoscopic</a:t>
            </a:r>
            <a:r>
              <a:rPr lang="en-GB" dirty="0"/>
              <a:t> datasets such as HAM10000 and the ISIC Archive. Studies by </a:t>
            </a:r>
            <a:r>
              <a:rPr lang="en-GB" b="1" dirty="0" err="1"/>
              <a:t>Esteva</a:t>
            </a:r>
            <a:r>
              <a:rPr lang="en-GB" b="1" dirty="0"/>
              <a:t> et al. (2017)</a:t>
            </a:r>
            <a:r>
              <a:rPr lang="en-GB" dirty="0"/>
              <a:t> demonstrated the potential of CNNs for skin cancer classification with dermatologist-comparable performance, while </a:t>
            </a:r>
            <a:r>
              <a:rPr lang="en-GB" b="1" dirty="0" err="1"/>
              <a:t>Codella</a:t>
            </a:r>
            <a:r>
              <a:rPr lang="en-GB" b="1" dirty="0"/>
              <a:t> et al.</a:t>
            </a:r>
            <a:r>
              <a:rPr lang="en-GB" dirty="0"/>
              <a:t> achieved strong results on ISIC challenge benchmarks using CNN-based ensemble approaches. Transfer learning, using models pretrained on large datasets such as ImageNet and fine-tuned on medical images, has become a widely adopted approach for addressing limited labelled medical data. The HAM10000 dataset, introduced by </a:t>
            </a:r>
            <a:r>
              <a:rPr lang="en-GB" b="1" dirty="0" err="1"/>
              <a:t>Tschandl</a:t>
            </a:r>
            <a:r>
              <a:rPr lang="en-GB" b="1" dirty="0"/>
              <a:t> et al.</a:t>
            </a:r>
            <a:r>
              <a:rPr lang="en-GB" dirty="0"/>
              <a:t>, provides over 10,000 </a:t>
            </a:r>
            <a:r>
              <a:rPr lang="en-GB" dirty="0" err="1"/>
              <a:t>dermatoscopic</a:t>
            </a:r>
            <a:r>
              <a:rPr lang="en-GB" dirty="0"/>
              <a:t> images across seven diagnostic categories and is widely used for skin lesion classification. However, existing high-performing models face challenges related to </a:t>
            </a:r>
            <a:r>
              <a:rPr lang="en-GB" dirty="0" err="1"/>
              <a:t>explainability</a:t>
            </a:r>
            <a:r>
              <a:rPr lang="en-GB" dirty="0"/>
              <a:t>, transparency, computational cost, and generalisation. Therefore, this project combines CNN-based classification with Grad-CAM-based </a:t>
            </a:r>
            <a:r>
              <a:rPr lang="en-GB" dirty="0" err="1"/>
              <a:t>explainability</a:t>
            </a:r>
            <a:r>
              <a:rPr lang="en-GB" dirty="0"/>
              <a:t> to provide both accurate lesion predictions and visual explanations.</a:t>
            </a:r>
          </a:p>
        </p:txBody>
      </p:sp>
      <p:pic>
        <p:nvPicPr>
          <p:cNvPr id="5" name="Picture 5" descr="Diagram&#10;&#10;Description automatically generated with medium confidence">
            <a:extLst>
              <a:ext uri="{FF2B5EF4-FFF2-40B4-BE49-F238E27FC236}">
                <a16:creationId xmlns:a16="http://schemas.microsoft.com/office/drawing/2014/main" id="{9DC31D46-8781-3C2C-C6D6-B6C0BEAAC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1"/>
            <a:ext cx="57277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3672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FD27-0C71-B6CD-B2AC-8AAF1E7E5623}"/>
              </a:ext>
            </a:extLst>
          </p:cNvPr>
          <p:cNvSpPr>
            <a:spLocks noGrp="1"/>
          </p:cNvSpPr>
          <p:nvPr>
            <p:ph type="title"/>
          </p:nvPr>
        </p:nvSpPr>
        <p:spPr>
          <a:xfrm>
            <a:off x="781050" y="164305"/>
            <a:ext cx="6259830" cy="1268255"/>
          </a:xfrm>
        </p:spPr>
        <p:txBody>
          <a:bodyPr/>
          <a:lstStyle/>
          <a:p>
            <a:r>
              <a:rPr lang="en-US" dirty="0"/>
              <a:t>  Objectives</a:t>
            </a:r>
          </a:p>
        </p:txBody>
      </p:sp>
      <p:sp>
        <p:nvSpPr>
          <p:cNvPr id="3" name="Content Placeholder 2">
            <a:extLst>
              <a:ext uri="{FF2B5EF4-FFF2-40B4-BE49-F238E27FC236}">
                <a16:creationId xmlns:a16="http://schemas.microsoft.com/office/drawing/2014/main" id="{66A90D84-822D-02BC-CDF3-7B9D2A521EFE}"/>
              </a:ext>
            </a:extLst>
          </p:cNvPr>
          <p:cNvSpPr>
            <a:spLocks noGrp="1"/>
          </p:cNvSpPr>
          <p:nvPr>
            <p:ph idx="1"/>
          </p:nvPr>
        </p:nvSpPr>
        <p:spPr>
          <a:xfrm>
            <a:off x="913775" y="1265237"/>
            <a:ext cx="10257145" cy="5013643"/>
          </a:xfrm>
        </p:spPr>
        <p:txBody>
          <a:bodyPr>
            <a:normAutofit/>
          </a:bodyPr>
          <a:lstStyle/>
          <a:p>
            <a:pPr algn="just">
              <a:buNone/>
            </a:pPr>
            <a:endParaRPr lang="en-US" b="1" dirty="0"/>
          </a:p>
          <a:p>
            <a:pPr algn="just"/>
            <a:endParaRPr lang="en-US" dirty="0"/>
          </a:p>
          <a:p>
            <a:pPr algn="just">
              <a:buFont typeface="Arial" panose="020B0604020202020204" pitchFamily="34" charset="0"/>
              <a:buChar char="•"/>
            </a:pPr>
            <a:r>
              <a:rPr lang="en-US" dirty="0"/>
              <a:t> </a:t>
            </a:r>
            <a:r>
              <a:rPr lang="en-GB" dirty="0"/>
              <a:t>To classify skin lesion images using CNN-based deep learning techniques.</a:t>
            </a:r>
          </a:p>
          <a:p>
            <a:pPr algn="just">
              <a:buFont typeface="Arial" panose="020B0604020202020204" pitchFamily="34" charset="0"/>
              <a:buChar char="•"/>
            </a:pPr>
            <a:r>
              <a:rPr lang="en-GB" dirty="0"/>
              <a:t>To improve prediction accuracy through image-based feature extraction.</a:t>
            </a:r>
          </a:p>
          <a:p>
            <a:pPr algn="just">
              <a:buFont typeface="Arial" panose="020B0604020202020204" pitchFamily="34" charset="0"/>
              <a:buChar char="•"/>
            </a:pPr>
            <a:r>
              <a:rPr lang="en-GB" dirty="0"/>
              <a:t>To implement Explainable AI using Grad-CAM for visual interpretation.</a:t>
            </a:r>
          </a:p>
          <a:p>
            <a:pPr algn="just">
              <a:buFont typeface="Arial" panose="020B0604020202020204" pitchFamily="34" charset="0"/>
              <a:buChar char="•"/>
            </a:pPr>
            <a:r>
              <a:rPr lang="en-GB" dirty="0"/>
              <a:t>To generate heatmaps highlighting important regions influencing prediction.</a:t>
            </a:r>
          </a:p>
          <a:p>
            <a:pPr algn="just">
              <a:buFont typeface="Arial" panose="020B0604020202020204" pitchFamily="34" charset="0"/>
              <a:buChar char="•"/>
            </a:pPr>
            <a:r>
              <a:rPr lang="en-GB" dirty="0"/>
              <a:t>To improve transparency and trust in AI-assisted medical diagnosis.</a:t>
            </a:r>
            <a:endParaRPr lang="en-US" dirty="0"/>
          </a:p>
        </p:txBody>
      </p:sp>
      <p:pic>
        <p:nvPicPr>
          <p:cNvPr id="5" name="Picture 5" descr="Diagram&#10;&#10;Description automatically generated with medium confidence">
            <a:extLst>
              <a:ext uri="{FF2B5EF4-FFF2-40B4-BE49-F238E27FC236}">
                <a16:creationId xmlns:a16="http://schemas.microsoft.com/office/drawing/2014/main" id="{9DC31D46-8781-3C2C-C6D6-B6C0BEAAC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1"/>
            <a:ext cx="57277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8147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FD27-0C71-B6CD-B2AC-8AAF1E7E5623}"/>
              </a:ext>
            </a:extLst>
          </p:cNvPr>
          <p:cNvSpPr>
            <a:spLocks noGrp="1"/>
          </p:cNvSpPr>
          <p:nvPr>
            <p:ph type="title"/>
          </p:nvPr>
        </p:nvSpPr>
        <p:spPr>
          <a:xfrm>
            <a:off x="781050" y="164305"/>
            <a:ext cx="6259830" cy="1268255"/>
          </a:xfrm>
        </p:spPr>
        <p:txBody>
          <a:bodyPr/>
          <a:lstStyle/>
          <a:p>
            <a:r>
              <a:rPr lang="en-US" dirty="0"/>
              <a:t>  Methodology</a:t>
            </a:r>
          </a:p>
        </p:txBody>
      </p:sp>
      <p:sp>
        <p:nvSpPr>
          <p:cNvPr id="3" name="Content Placeholder 2">
            <a:extLst>
              <a:ext uri="{FF2B5EF4-FFF2-40B4-BE49-F238E27FC236}">
                <a16:creationId xmlns:a16="http://schemas.microsoft.com/office/drawing/2014/main" id="{66A90D84-822D-02BC-CDF3-7B9D2A521EFE}"/>
              </a:ext>
            </a:extLst>
          </p:cNvPr>
          <p:cNvSpPr>
            <a:spLocks noGrp="1"/>
          </p:cNvSpPr>
          <p:nvPr>
            <p:ph idx="1"/>
          </p:nvPr>
        </p:nvSpPr>
        <p:spPr>
          <a:xfrm>
            <a:off x="913775" y="1265237"/>
            <a:ext cx="10257145" cy="5013643"/>
          </a:xfrm>
        </p:spPr>
        <p:txBody>
          <a:bodyPr>
            <a:normAutofit/>
          </a:bodyPr>
          <a:lstStyle/>
          <a:p>
            <a:pPr algn="just">
              <a:buNone/>
            </a:pPr>
            <a:endParaRPr lang="en-US" b="1" dirty="0"/>
          </a:p>
          <a:p>
            <a:pPr algn="just"/>
            <a:endParaRPr lang="en-US" dirty="0"/>
          </a:p>
          <a:p>
            <a:pPr algn="just">
              <a:buFont typeface="Arial" panose="020B0604020202020204" pitchFamily="34" charset="0"/>
              <a:buChar char="•"/>
            </a:pPr>
            <a:r>
              <a:rPr lang="en-US" dirty="0"/>
              <a:t> </a:t>
            </a:r>
            <a:r>
              <a:rPr lang="en-GB" dirty="0"/>
              <a:t>Skin lesion images are collected from the HAM10000 dataset.</a:t>
            </a:r>
          </a:p>
          <a:p>
            <a:pPr algn="just">
              <a:buFont typeface="Arial" panose="020B0604020202020204" pitchFamily="34" charset="0"/>
              <a:buChar char="•"/>
            </a:pPr>
            <a:r>
              <a:rPr lang="en-GB" dirty="0"/>
              <a:t> Images are </a:t>
            </a:r>
            <a:r>
              <a:rPr lang="en-GB" dirty="0" err="1"/>
              <a:t>preprocessed</a:t>
            </a:r>
            <a:r>
              <a:rPr lang="en-GB" dirty="0"/>
              <a:t> and resized before classification.</a:t>
            </a:r>
          </a:p>
          <a:p>
            <a:pPr algn="just">
              <a:buFont typeface="Arial" panose="020B0604020202020204" pitchFamily="34" charset="0"/>
              <a:buChar char="•"/>
            </a:pPr>
            <a:r>
              <a:rPr lang="en-GB" dirty="0"/>
              <a:t> CNN models are used for feature extraction and classification.</a:t>
            </a:r>
          </a:p>
          <a:p>
            <a:pPr algn="just">
              <a:buFont typeface="Arial" panose="020B0604020202020204" pitchFamily="34" charset="0"/>
              <a:buChar char="•"/>
            </a:pPr>
            <a:r>
              <a:rPr lang="en-GB" dirty="0"/>
              <a:t> Grad-CAM generates heatmaps for visual explanation.</a:t>
            </a:r>
          </a:p>
          <a:p>
            <a:pPr algn="just">
              <a:buFont typeface="Arial" panose="020B0604020202020204" pitchFamily="34" charset="0"/>
              <a:buChar char="•"/>
            </a:pPr>
            <a:r>
              <a:rPr lang="en-GB" dirty="0"/>
              <a:t> Final output displays prediction results with interpretability.</a:t>
            </a:r>
          </a:p>
          <a:p>
            <a:pPr algn="just">
              <a:buFont typeface="Arial" panose="020B0604020202020204" pitchFamily="34" charset="0"/>
              <a:buChar char="•"/>
            </a:pPr>
            <a:endParaRPr lang="en-GB" dirty="0"/>
          </a:p>
          <a:p>
            <a:pPr marL="0" indent="0" algn="just">
              <a:buNone/>
            </a:pPr>
            <a:r>
              <a:rPr lang="en-US" sz="2800" b="1" dirty="0"/>
              <a:t> Input → Preprocessing → CNN → Grad-CAM → Result</a:t>
            </a:r>
          </a:p>
        </p:txBody>
      </p:sp>
      <p:pic>
        <p:nvPicPr>
          <p:cNvPr id="5" name="Picture 5" descr="Diagram&#10;&#10;Description automatically generated with medium confidence">
            <a:extLst>
              <a:ext uri="{FF2B5EF4-FFF2-40B4-BE49-F238E27FC236}">
                <a16:creationId xmlns:a16="http://schemas.microsoft.com/office/drawing/2014/main" id="{9DC31D46-8781-3C2C-C6D6-B6C0BEAAC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1"/>
            <a:ext cx="57277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859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FD27-0C71-B6CD-B2AC-8AAF1E7E5623}"/>
              </a:ext>
            </a:extLst>
          </p:cNvPr>
          <p:cNvSpPr>
            <a:spLocks noGrp="1"/>
          </p:cNvSpPr>
          <p:nvPr>
            <p:ph type="title"/>
          </p:nvPr>
        </p:nvSpPr>
        <p:spPr>
          <a:xfrm>
            <a:off x="781050" y="164305"/>
            <a:ext cx="6259830" cy="1268255"/>
          </a:xfrm>
        </p:spPr>
        <p:txBody>
          <a:bodyPr/>
          <a:lstStyle/>
          <a:p>
            <a:r>
              <a:rPr lang="en-US" dirty="0"/>
              <a:t>  Conclusion</a:t>
            </a:r>
          </a:p>
        </p:txBody>
      </p:sp>
      <p:sp>
        <p:nvSpPr>
          <p:cNvPr id="3" name="Content Placeholder 2">
            <a:extLst>
              <a:ext uri="{FF2B5EF4-FFF2-40B4-BE49-F238E27FC236}">
                <a16:creationId xmlns:a16="http://schemas.microsoft.com/office/drawing/2014/main" id="{66A90D84-822D-02BC-CDF3-7B9D2A521EFE}"/>
              </a:ext>
            </a:extLst>
          </p:cNvPr>
          <p:cNvSpPr>
            <a:spLocks noGrp="1"/>
          </p:cNvSpPr>
          <p:nvPr>
            <p:ph idx="1"/>
          </p:nvPr>
        </p:nvSpPr>
        <p:spPr>
          <a:xfrm>
            <a:off x="913775" y="1265237"/>
            <a:ext cx="10257145" cy="5013643"/>
          </a:xfrm>
        </p:spPr>
        <p:txBody>
          <a:bodyPr>
            <a:normAutofit/>
          </a:bodyPr>
          <a:lstStyle/>
          <a:p>
            <a:pPr algn="just">
              <a:buNone/>
            </a:pPr>
            <a:endParaRPr lang="en-US" b="1" dirty="0"/>
          </a:p>
          <a:p>
            <a:pPr algn="just"/>
            <a:endParaRPr lang="en-US" dirty="0"/>
          </a:p>
          <a:p>
            <a:pPr algn="just"/>
            <a:r>
              <a:rPr lang="en-GB" dirty="0"/>
              <a:t>The proposed system combines CNN-based deep learning and Explainable AI for effective skin lesion classification. The model </a:t>
            </a:r>
            <a:r>
              <a:rPr lang="en-GB" dirty="0" err="1"/>
              <a:t>analyzes</a:t>
            </a:r>
            <a:r>
              <a:rPr lang="en-GB" dirty="0"/>
              <a:t> </a:t>
            </a:r>
            <a:r>
              <a:rPr lang="en-GB" dirty="0" err="1"/>
              <a:t>dermatoscopic</a:t>
            </a:r>
            <a:r>
              <a:rPr lang="en-GB" dirty="0"/>
              <a:t> images and classifies different categories of skin lesions based on visual features such as texture, shape, and </a:t>
            </a:r>
            <a:r>
              <a:rPr lang="en-GB" dirty="0" err="1"/>
              <a:t>color</a:t>
            </a:r>
            <a:r>
              <a:rPr lang="en-GB" dirty="0"/>
              <a:t> patterns. Grad-CAM generates heatmaps that highlight the important regions influencing the prediction, improving transparency and interpretability. The system aims to support accurate, reliable, and AI-assisted healthcare diagnosis while increasing trust in medical image analysis.</a:t>
            </a:r>
            <a:endParaRPr lang="en-US" dirty="0"/>
          </a:p>
        </p:txBody>
      </p:sp>
      <p:pic>
        <p:nvPicPr>
          <p:cNvPr id="5" name="Picture 5" descr="Diagram&#10;&#10;Description automatically generated with medium confidence">
            <a:extLst>
              <a:ext uri="{FF2B5EF4-FFF2-40B4-BE49-F238E27FC236}">
                <a16:creationId xmlns:a16="http://schemas.microsoft.com/office/drawing/2014/main" id="{9DC31D46-8781-3C2C-C6D6-B6C0BEAAC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1"/>
            <a:ext cx="57277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9612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FD27-0C71-B6CD-B2AC-8AAF1E7E5623}"/>
              </a:ext>
            </a:extLst>
          </p:cNvPr>
          <p:cNvSpPr>
            <a:spLocks noGrp="1"/>
          </p:cNvSpPr>
          <p:nvPr>
            <p:ph type="title"/>
          </p:nvPr>
        </p:nvSpPr>
        <p:spPr>
          <a:xfrm>
            <a:off x="781050" y="164305"/>
            <a:ext cx="6259830" cy="1268255"/>
          </a:xfrm>
        </p:spPr>
        <p:txBody>
          <a:bodyPr/>
          <a:lstStyle/>
          <a:p>
            <a:r>
              <a:rPr lang="en-US" dirty="0"/>
              <a:t>  References</a:t>
            </a:r>
          </a:p>
        </p:txBody>
      </p:sp>
      <p:sp>
        <p:nvSpPr>
          <p:cNvPr id="3" name="Content Placeholder 2">
            <a:extLst>
              <a:ext uri="{FF2B5EF4-FFF2-40B4-BE49-F238E27FC236}">
                <a16:creationId xmlns:a16="http://schemas.microsoft.com/office/drawing/2014/main" id="{66A90D84-822D-02BC-CDF3-7B9D2A521EFE}"/>
              </a:ext>
            </a:extLst>
          </p:cNvPr>
          <p:cNvSpPr>
            <a:spLocks noGrp="1"/>
          </p:cNvSpPr>
          <p:nvPr>
            <p:ph idx="1"/>
          </p:nvPr>
        </p:nvSpPr>
        <p:spPr>
          <a:xfrm>
            <a:off x="913775" y="1265237"/>
            <a:ext cx="10257145" cy="5013643"/>
          </a:xfrm>
        </p:spPr>
        <p:txBody>
          <a:bodyPr>
            <a:normAutofit/>
          </a:bodyPr>
          <a:lstStyle/>
          <a:p>
            <a:pPr algn="just">
              <a:buNone/>
            </a:pPr>
            <a:endParaRPr lang="en-US" b="1" dirty="0"/>
          </a:p>
          <a:p>
            <a:pPr algn="just"/>
            <a:endParaRPr lang="en-US" dirty="0"/>
          </a:p>
          <a:p>
            <a:pPr algn="just">
              <a:buFont typeface="Arial" panose="020B0604020202020204" pitchFamily="34" charset="0"/>
              <a:buChar char="•"/>
            </a:pPr>
            <a:r>
              <a:rPr lang="en-US" dirty="0"/>
              <a:t> CNN-Based Skin Lesion Classification </a:t>
            </a:r>
            <a:r>
              <a:rPr lang="en-IN" dirty="0"/>
              <a:t>– IEEE papers</a:t>
            </a:r>
          </a:p>
          <a:p>
            <a:pPr algn="just">
              <a:buFont typeface="Arial" panose="020B0604020202020204" pitchFamily="34" charset="0"/>
              <a:buChar char="•"/>
            </a:pPr>
            <a:r>
              <a:rPr lang="en-IN" dirty="0"/>
              <a:t> HAM10000 Skin Lesion Dataset – Kaggle</a:t>
            </a:r>
          </a:p>
          <a:p>
            <a:pPr algn="just">
              <a:buFont typeface="Arial" panose="020B0604020202020204" pitchFamily="34" charset="0"/>
              <a:buChar char="•"/>
            </a:pPr>
            <a:r>
              <a:rPr lang="en-IN" dirty="0"/>
              <a:t> </a:t>
            </a:r>
            <a:r>
              <a:rPr lang="en-GB" dirty="0"/>
              <a:t>Grad-CAM: Visual Explanations from Deep Networks</a:t>
            </a:r>
            <a:endParaRPr lang="en-IN" dirty="0"/>
          </a:p>
          <a:p>
            <a:pPr algn="just">
              <a:buFont typeface="Arial" panose="020B0604020202020204" pitchFamily="34" charset="0"/>
              <a:buChar char="•"/>
            </a:pPr>
            <a:r>
              <a:rPr lang="en-IN" dirty="0"/>
              <a:t> </a:t>
            </a:r>
            <a:r>
              <a:rPr lang="en-GB" dirty="0"/>
              <a:t>Explainable AI for Medical Imaging – Springer</a:t>
            </a:r>
            <a:endParaRPr lang="en-IN" dirty="0"/>
          </a:p>
          <a:p>
            <a:pPr algn="just">
              <a:buFont typeface="Arial" panose="020B0604020202020204" pitchFamily="34" charset="0"/>
              <a:buChar char="•"/>
            </a:pPr>
            <a:r>
              <a:rPr lang="en-IN" dirty="0"/>
              <a:t> Google Scholar</a:t>
            </a:r>
          </a:p>
          <a:p>
            <a:pPr algn="just">
              <a:buFont typeface="Arial" panose="020B0604020202020204" pitchFamily="34" charset="0"/>
              <a:buChar char="•"/>
            </a:pPr>
            <a:r>
              <a:rPr lang="en-IN" dirty="0"/>
              <a:t> IEEE Xplore</a:t>
            </a:r>
            <a:endParaRPr lang="en-US" dirty="0"/>
          </a:p>
        </p:txBody>
      </p:sp>
      <p:pic>
        <p:nvPicPr>
          <p:cNvPr id="5" name="Picture 5" descr="Diagram&#10;&#10;Description automatically generated with medium confidence">
            <a:extLst>
              <a:ext uri="{FF2B5EF4-FFF2-40B4-BE49-F238E27FC236}">
                <a16:creationId xmlns:a16="http://schemas.microsoft.com/office/drawing/2014/main" id="{9DC31D46-8781-3C2C-C6D6-B6C0BEAAC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1"/>
            <a:ext cx="5727700"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9326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800355-EAFD-C3CB-BAF6-3FAF36CA0F14}"/>
              </a:ext>
            </a:extLst>
          </p:cNvPr>
          <p:cNvSpPr>
            <a:spLocks noGrp="1"/>
          </p:cNvSpPr>
          <p:nvPr>
            <p:ph type="subTitle" idx="4294967295"/>
          </p:nvPr>
        </p:nvSpPr>
        <p:spPr>
          <a:xfrm>
            <a:off x="1447800" y="2590800"/>
            <a:ext cx="8671560" cy="1600199"/>
          </a:xfrm>
        </p:spPr>
        <p:txBody>
          <a:bodyPr>
            <a:normAutofit fontScale="40000" lnSpcReduction="20000"/>
          </a:bodyPr>
          <a:lstStyle/>
          <a:p>
            <a:endParaRPr lang="en-US" dirty="0"/>
          </a:p>
          <a:p>
            <a:endParaRPr lang="en-US" dirty="0"/>
          </a:p>
          <a:p>
            <a:endParaRPr lang="en-US" dirty="0"/>
          </a:p>
          <a:p>
            <a:r>
              <a:rPr lang="en-US" sz="10000" dirty="0"/>
              <a:t>                            </a:t>
            </a:r>
            <a:r>
              <a:rPr lang="en-US" sz="13500" dirty="0"/>
              <a:t>Thank you</a:t>
            </a:r>
          </a:p>
        </p:txBody>
      </p:sp>
      <p:pic>
        <p:nvPicPr>
          <p:cNvPr id="5" name="Picture 5" descr="Diagram&#10;&#10;Description automatically generated with medium confidence">
            <a:extLst>
              <a:ext uri="{FF2B5EF4-FFF2-40B4-BE49-F238E27FC236}">
                <a16:creationId xmlns:a16="http://schemas.microsoft.com/office/drawing/2014/main" id="{696ED3AE-21A9-AAF9-6E5D-6E49D10BB6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1"/>
            <a:ext cx="5727700" cy="981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03858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448</TotalTime>
  <Words>693</Words>
  <Application>Microsoft Office PowerPoint</Application>
  <PresentationFormat>Widescreen</PresentationFormat>
  <Paragraphs>64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Retrospect</vt:lpstr>
      <vt:lpstr>Skin Lesion Classification Using Explainable AI</vt:lpstr>
      <vt:lpstr>List of contents</vt:lpstr>
      <vt:lpstr>  Abstract</vt:lpstr>
      <vt:lpstr>  Introduction</vt:lpstr>
      <vt:lpstr>  Literature Review</vt:lpstr>
      <vt:lpstr>  Objectives</vt:lpstr>
      <vt:lpstr>  Methodology</vt:lpstr>
      <vt:lpstr>  Conclusion</vt:lpstr>
      <vt:lpstr>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Skin Lesion Classification Using Explainable AI</dc:title>
  <dc:creator>Susheel Kumar K [MAHE-MITBLR]</dc:creator>
  <cp:lastModifiedBy>Ann Sham Daniel - 123132260 - MITBLR</cp:lastModifiedBy>
  <cp:revision>10</cp:revision>
  <dcterms:created xsi:type="dcterms:W3CDTF">2025-02-25T17:39:52Z</dcterms:created>
  <dcterms:modified xsi:type="dcterms:W3CDTF">2026-09-11T11:52:55Z</dcterms:modified>
</cp:coreProperties>
</file>